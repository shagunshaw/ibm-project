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omfortaa"/>
      <p:regular r:id="rId17"/>
    </p:embeddedFont>
    <p:embeddedFont>
      <p:font typeface="Comfortaa"/>
      <p:regular r:id="rId18"/>
    </p:embeddedFont>
    <p:embeddedFont>
      <p:font typeface="Raleway Medium"/>
      <p:regular r:id="rId19"/>
    </p:embeddedFont>
    <p:embeddedFont>
      <p:font typeface="Raleway Medium"/>
      <p:regular r:id="rId20"/>
    </p:embeddedFont>
    <p:embeddedFont>
      <p:font typeface="Raleway Medium"/>
      <p:regular r:id="rId21"/>
    </p:embeddedFont>
    <p:embeddedFont>
      <p:font typeface="Raleway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831300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u="sng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Predicting Coronary Heart Disease Risk Using Machine Learning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987403"/>
            <a:ext cx="7415927" cy="164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 Logistic Regression Approach Using the Framingham Heart Study Dataset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350437" y="6003250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Presented by: Shagun Shaw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0770" y="586502"/>
            <a:ext cx="7795260" cy="107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Introduction &amp; Motivation: The Global Challenge of CVD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160770" y="1946077"/>
            <a:ext cx="3801308" cy="3348514"/>
          </a:xfrm>
          <a:prstGeom prst="roundRect">
            <a:avLst>
              <a:gd name="adj" fmla="val 8632"/>
            </a:avLst>
          </a:prstGeom>
          <a:solidFill>
            <a:srgbClr val="46464A"/>
          </a:solidFill>
          <a:ln/>
        </p:spPr>
      </p:sp>
      <p:sp>
        <p:nvSpPr>
          <p:cNvPr id="5" name="Shape 2"/>
          <p:cNvSpPr/>
          <p:nvPr/>
        </p:nvSpPr>
        <p:spPr>
          <a:xfrm>
            <a:off x="6353413" y="2138720"/>
            <a:ext cx="578048" cy="578048"/>
          </a:xfrm>
          <a:prstGeom prst="roundRect">
            <a:avLst>
              <a:gd name="adj" fmla="val 15817174"/>
            </a:avLst>
          </a:prstGeom>
          <a:solidFill>
            <a:srgbClr val="FFE14D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2362" y="2297668"/>
            <a:ext cx="260152" cy="260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3413" y="2909411"/>
            <a:ext cx="3416022" cy="53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Cardiovascular Disease Burden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353413" y="3560088"/>
            <a:ext cx="3416022" cy="154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Cardiovascular disease (CVD) remains a leading cause of death worldwide, impacting millions of lives and placing significant strain on healthcare systems.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154722" y="1946077"/>
            <a:ext cx="3801308" cy="3348514"/>
          </a:xfrm>
          <a:prstGeom prst="roundRect">
            <a:avLst>
              <a:gd name="adj" fmla="val 8632"/>
            </a:avLst>
          </a:prstGeom>
          <a:solidFill>
            <a:srgbClr val="46464A"/>
          </a:solidFill>
          <a:ln/>
        </p:spPr>
      </p:sp>
      <p:sp>
        <p:nvSpPr>
          <p:cNvPr id="10" name="Shape 6"/>
          <p:cNvSpPr/>
          <p:nvPr/>
        </p:nvSpPr>
        <p:spPr>
          <a:xfrm>
            <a:off x="10347365" y="2138720"/>
            <a:ext cx="578048" cy="578048"/>
          </a:xfrm>
          <a:prstGeom prst="roundRect">
            <a:avLst>
              <a:gd name="adj" fmla="val 15817174"/>
            </a:avLst>
          </a:prstGeom>
          <a:solidFill>
            <a:srgbClr val="FFE14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6313" y="2297668"/>
            <a:ext cx="260152" cy="2601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47365" y="2909411"/>
            <a:ext cx="3416022" cy="53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Importance of Early Prediction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0347365" y="3560088"/>
            <a:ext cx="3416022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Early and accurate risk prediction is crucial for timely interventions, enabling preventative measures and improved patient outcomes.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160770" y="5487233"/>
            <a:ext cx="7795260" cy="2155865"/>
          </a:xfrm>
          <a:prstGeom prst="roundRect">
            <a:avLst>
              <a:gd name="adj" fmla="val 13408"/>
            </a:avLst>
          </a:prstGeom>
          <a:solidFill>
            <a:srgbClr val="46464A"/>
          </a:solidFill>
          <a:ln/>
        </p:spPr>
      </p:sp>
      <p:sp>
        <p:nvSpPr>
          <p:cNvPr id="15" name="Shape 10"/>
          <p:cNvSpPr/>
          <p:nvPr/>
        </p:nvSpPr>
        <p:spPr>
          <a:xfrm>
            <a:off x="6353413" y="5679877"/>
            <a:ext cx="578048" cy="578048"/>
          </a:xfrm>
          <a:prstGeom prst="roundRect">
            <a:avLst>
              <a:gd name="adj" fmla="val 15817174"/>
            </a:avLst>
          </a:prstGeom>
          <a:solidFill>
            <a:srgbClr val="FFE14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2362" y="5838825"/>
            <a:ext cx="260152" cy="2601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3413" y="6450568"/>
            <a:ext cx="2141101" cy="267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Objective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353413" y="6833711"/>
            <a:ext cx="740997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Our aim is to develop a robust model that can predict 10-year Coronary Heart Disease (CHD) risk using readily available clinical and demographic data.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184" y="747474"/>
            <a:ext cx="764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Overview: The Framingham Heart Study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235184" y="2257068"/>
            <a:ext cx="7646432" cy="1599009"/>
          </a:xfrm>
          <a:prstGeom prst="roundRect">
            <a:avLst>
              <a:gd name="adj" fmla="val 20072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65664" y="2287548"/>
            <a:ext cx="855821" cy="1538049"/>
          </a:xfrm>
          <a:prstGeom prst="roundRect">
            <a:avLst>
              <a:gd name="adj" fmla="val 33229"/>
            </a:avLst>
          </a:prstGeom>
          <a:solidFill>
            <a:srgbClr val="46464A"/>
          </a:solidFill>
          <a:ln/>
        </p:spPr>
      </p:sp>
      <p:sp>
        <p:nvSpPr>
          <p:cNvPr id="6" name="Text 3"/>
          <p:cNvSpPr/>
          <p:nvPr/>
        </p:nvSpPr>
        <p:spPr>
          <a:xfrm>
            <a:off x="6533078" y="2855952"/>
            <a:ext cx="320873" cy="40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35441" y="2501503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Source &amp; Size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335441" y="2927032"/>
            <a:ext cx="6301740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Framingham Heart Study: A renowned longitudinal cohort study. Initial sample size: 4,240 patients.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35184" y="4070033"/>
            <a:ext cx="7646432" cy="1599009"/>
          </a:xfrm>
          <a:prstGeom prst="roundRect">
            <a:avLst>
              <a:gd name="adj" fmla="val 20072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5664" y="4100512"/>
            <a:ext cx="855821" cy="1538049"/>
          </a:xfrm>
          <a:prstGeom prst="roundRect">
            <a:avLst>
              <a:gd name="adj" fmla="val 33229"/>
            </a:avLst>
          </a:prstGeom>
          <a:solidFill>
            <a:srgbClr val="46464A"/>
          </a:solidFill>
          <a:ln/>
        </p:spPr>
      </p:sp>
      <p:sp>
        <p:nvSpPr>
          <p:cNvPr id="11" name="Text 8"/>
          <p:cNvSpPr/>
          <p:nvPr/>
        </p:nvSpPr>
        <p:spPr>
          <a:xfrm>
            <a:off x="6533078" y="4668917"/>
            <a:ext cx="320873" cy="40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335441" y="4314468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335441" y="4739997"/>
            <a:ext cx="6301740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15 variables, including age, sex, smoking status, blood pressure, cholesterol, BMI, and glucose levels.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235184" y="5882997"/>
            <a:ext cx="7646432" cy="1599009"/>
          </a:xfrm>
          <a:prstGeom prst="roundRect">
            <a:avLst>
              <a:gd name="adj" fmla="val 20072"/>
            </a:avLst>
          </a:prstGeom>
          <a:solidFill>
            <a:srgbClr val="27272B"/>
          </a:solidFill>
          <a:ln w="30480">
            <a:solidFill>
              <a:srgbClr val="5F5F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5664" y="5913477"/>
            <a:ext cx="855821" cy="1538049"/>
          </a:xfrm>
          <a:prstGeom prst="roundRect">
            <a:avLst>
              <a:gd name="adj" fmla="val 33229"/>
            </a:avLst>
          </a:prstGeom>
          <a:solidFill>
            <a:srgbClr val="46464A"/>
          </a:solidFill>
          <a:ln/>
        </p:spPr>
      </p:sp>
      <p:sp>
        <p:nvSpPr>
          <p:cNvPr id="16" name="Text 13"/>
          <p:cNvSpPr/>
          <p:nvPr/>
        </p:nvSpPr>
        <p:spPr>
          <a:xfrm>
            <a:off x="6533078" y="6481882"/>
            <a:ext cx="320873" cy="40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7335441" y="6127433"/>
            <a:ext cx="2377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Target Variable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7335441" y="6552962"/>
            <a:ext cx="6301740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TenYearCHD (binary: 0 = No risk, 1 = At risk), representing the presence or absence of CHD within 10 years.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577" y="481251"/>
            <a:ext cx="10723602" cy="48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Preprocessing - Part 1: Handling Missing Values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12577" y="1426726"/>
            <a:ext cx="175022" cy="1328142"/>
          </a:xfrm>
          <a:prstGeom prst="roundRect">
            <a:avLst>
              <a:gd name="adj" fmla="val 150004"/>
            </a:avLst>
          </a:prstGeom>
          <a:solidFill>
            <a:srgbClr val="46464A"/>
          </a:solidFill>
          <a:ln/>
        </p:spPr>
      </p:sp>
      <p:sp>
        <p:nvSpPr>
          <p:cNvPr id="4" name="Text 2"/>
          <p:cNvSpPr/>
          <p:nvPr/>
        </p:nvSpPr>
        <p:spPr>
          <a:xfrm>
            <a:off x="962620" y="1601748"/>
            <a:ext cx="2845475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Education Column Dropped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2620" y="2019776"/>
            <a:ext cx="752225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'education' column was removed due to 105 missing values, deemed non-critical for this prediction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75109" y="2929890"/>
            <a:ext cx="175022" cy="1328142"/>
          </a:xfrm>
          <a:prstGeom prst="roundRect">
            <a:avLst>
              <a:gd name="adj" fmla="val 150004"/>
            </a:avLst>
          </a:prstGeom>
          <a:solidFill>
            <a:srgbClr val="46464A"/>
          </a:solidFill>
          <a:ln/>
        </p:spPr>
      </p:sp>
      <p:sp>
        <p:nvSpPr>
          <p:cNvPr id="7" name="Text 5"/>
          <p:cNvSpPr/>
          <p:nvPr/>
        </p:nvSpPr>
        <p:spPr>
          <a:xfrm>
            <a:off x="1225153" y="3104912"/>
            <a:ext cx="3412688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CigsPerDay &amp; BPMeds Imputation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153" y="3522940"/>
            <a:ext cx="725971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Missing values in 'cigsPerDay' and 'BPMeds' were filled with 0, a logical imputation assuming no smoking or blood pressure medication use.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37642" y="4433054"/>
            <a:ext cx="175022" cy="1328142"/>
          </a:xfrm>
          <a:prstGeom prst="roundRect">
            <a:avLst>
              <a:gd name="adj" fmla="val 150004"/>
            </a:avLst>
          </a:prstGeom>
          <a:solidFill>
            <a:srgbClr val="46464A"/>
          </a:solidFill>
          <a:ln/>
        </p:spPr>
      </p:sp>
      <p:sp>
        <p:nvSpPr>
          <p:cNvPr id="10" name="Text 8"/>
          <p:cNvSpPr/>
          <p:nvPr/>
        </p:nvSpPr>
        <p:spPr>
          <a:xfrm>
            <a:off x="1487686" y="4608076"/>
            <a:ext cx="3031927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Glucose &amp; TotChol Imputation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7686" y="5026104"/>
            <a:ext cx="6997184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'Glucose' and 'totChol' missing values were imputed using their respective median values to preserve data distribution.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400175" y="5936218"/>
            <a:ext cx="175022" cy="1328142"/>
          </a:xfrm>
          <a:prstGeom prst="roundRect">
            <a:avLst>
              <a:gd name="adj" fmla="val 150004"/>
            </a:avLst>
          </a:prstGeom>
          <a:solidFill>
            <a:srgbClr val="46464A"/>
          </a:solidFill>
          <a:ln/>
        </p:spPr>
      </p:sp>
      <p:sp>
        <p:nvSpPr>
          <p:cNvPr id="13" name="Text 11"/>
          <p:cNvSpPr/>
          <p:nvPr/>
        </p:nvSpPr>
        <p:spPr>
          <a:xfrm>
            <a:off x="1750219" y="6111240"/>
            <a:ext cx="2461141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Remaining Missing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50219" y="6529268"/>
            <a:ext cx="6734651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Any remaining rows with missing data after the above steps were subsequently dropped to ensure data integrity.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19448" y="1404938"/>
            <a:ext cx="2819519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Impact on Dataset Size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19448" y="1871663"/>
            <a:ext cx="51058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Original Samples: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4,240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19448" y="2309217"/>
            <a:ext cx="510587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Final Dataset: 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3,809</a:t>
            </a:r>
            <a:endParaRPr lang="en-US" sz="13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9448" y="2786062"/>
            <a:ext cx="5105876" cy="5105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562" y="871061"/>
            <a:ext cx="7772876" cy="1088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Preprocessing - Part 2: Outlier Detection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85562" y="2253020"/>
            <a:ext cx="3788450" cy="2461379"/>
          </a:xfrm>
          <a:prstGeom prst="roundRect">
            <a:avLst>
              <a:gd name="adj" fmla="val 4458"/>
            </a:avLst>
          </a:prstGeom>
          <a:solidFill>
            <a:srgbClr val="27272B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2702" y="2253020"/>
            <a:ext cx="91440" cy="2461379"/>
          </a:xfrm>
          <a:prstGeom prst="roundRect">
            <a:avLst>
              <a:gd name="adj" fmla="val 321326"/>
            </a:avLst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972860" y="2471738"/>
            <a:ext cx="2830949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Distribution Analysis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72860" y="2915722"/>
            <a:ext cx="3282434" cy="125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Histograms were utilised to visually inspect the distribution of key numerical features, aiding in the identification of extreme outliers.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9869" y="2253020"/>
            <a:ext cx="3788569" cy="2461379"/>
          </a:xfrm>
          <a:prstGeom prst="roundRect">
            <a:avLst>
              <a:gd name="adj" fmla="val 4458"/>
            </a:avLst>
          </a:prstGeom>
          <a:solidFill>
            <a:srgbClr val="27272B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47009" y="2253020"/>
            <a:ext cx="91440" cy="2461379"/>
          </a:xfrm>
          <a:prstGeom prst="roundRect">
            <a:avLst>
              <a:gd name="adj" fmla="val 321326"/>
            </a:avLst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4957167" y="2471738"/>
            <a:ext cx="3282553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Quantile-Based Filtering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957167" y="3242191"/>
            <a:ext cx="3282553" cy="125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quantile-based filtering approach (5th-95th percentile) was applied to 'glucose' levels and 'total cholesterol'.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562" y="4910257"/>
            <a:ext cx="3788450" cy="2448282"/>
          </a:xfrm>
          <a:prstGeom prst="roundRect">
            <a:avLst>
              <a:gd name="adj" fmla="val 4482"/>
            </a:avLst>
          </a:prstGeom>
          <a:solidFill>
            <a:srgbClr val="27272B"/>
          </a:solidFill>
          <a:ln w="22860">
            <a:solidFill>
              <a:srgbClr val="5F5F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702" y="4910257"/>
            <a:ext cx="91440" cy="2448282"/>
          </a:xfrm>
          <a:prstGeom prst="roundRect">
            <a:avLst>
              <a:gd name="adj" fmla="val 321326"/>
            </a:avLst>
          </a:prstGeom>
          <a:solidFill>
            <a:srgbClr val="FFE14D"/>
          </a:solidFill>
          <a:ln/>
        </p:spPr>
      </p:sp>
      <p:sp>
        <p:nvSpPr>
          <p:cNvPr id="14" name="Text 11"/>
          <p:cNvSpPr/>
          <p:nvPr/>
        </p:nvSpPr>
        <p:spPr>
          <a:xfrm>
            <a:off x="972860" y="5128974"/>
            <a:ext cx="296775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Rationale for Removal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972860" y="5572958"/>
            <a:ext cx="3282434" cy="156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process removed extreme values that could potentially skew the logistic regression model, ensuring a more robust and accurate prediction.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538" y="541615"/>
            <a:ext cx="12132945" cy="546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Exploratory Data Analysis: Data Quality Improvement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8538" y="1481495"/>
            <a:ext cx="1325332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Visualisations highlight the significant improvement in data quality for critical features after outlier removal.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158" y="2145149"/>
            <a:ext cx="4307800" cy="236089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240" y="2145149"/>
            <a:ext cx="4307800" cy="236089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322" y="2145149"/>
            <a:ext cx="4307800" cy="236089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58" y="4663321"/>
            <a:ext cx="13238083" cy="236089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88538" y="7373183"/>
            <a:ext cx="1325332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These visual insights confirm the effectiveness of our outlier detection strategy.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985" y="356711"/>
            <a:ext cx="6803708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Class Distribution: Understanding Imbalance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985" y="1057394"/>
            <a:ext cx="7404854" cy="39864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51716" y="5074325"/>
            <a:ext cx="129659" cy="129659"/>
          </a:xfrm>
          <a:prstGeom prst="roundRect">
            <a:avLst>
              <a:gd name="adj" fmla="val 14105"/>
            </a:avLst>
          </a:prstGeom>
          <a:solidFill>
            <a:srgbClr val="4D4000"/>
          </a:solidFill>
          <a:ln/>
        </p:spPr>
      </p:sp>
      <p:sp>
        <p:nvSpPr>
          <p:cNvPr id="5" name="Text 2"/>
          <p:cNvSpPr/>
          <p:nvPr/>
        </p:nvSpPr>
        <p:spPr>
          <a:xfrm>
            <a:off x="3442335" y="5074325"/>
            <a:ext cx="637818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 Risk (0)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232553" y="5074325"/>
            <a:ext cx="129659" cy="129659"/>
          </a:xfrm>
          <a:prstGeom prst="roundRect">
            <a:avLst>
              <a:gd name="adj" fmla="val 14105"/>
            </a:avLst>
          </a:prstGeom>
          <a:solidFill>
            <a:srgbClr val="FFD81A"/>
          </a:solidFill>
          <a:ln/>
        </p:spPr>
      </p:sp>
      <p:sp>
        <p:nvSpPr>
          <p:cNvPr id="7" name="Text 4"/>
          <p:cNvSpPr/>
          <p:nvPr/>
        </p:nvSpPr>
        <p:spPr>
          <a:xfrm>
            <a:off x="4423172" y="5074325"/>
            <a:ext cx="57531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At Risk (1)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182928" y="1041202"/>
            <a:ext cx="1729502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Observations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82928" y="1387078"/>
            <a:ext cx="6000988" cy="20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target variable, TenYearCHD, shows a significant class imbalance.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82928" y="1640086"/>
            <a:ext cx="6000988" cy="20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'No Risk' class (0) is considerably larger than the 'At Risk' class (1).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82928" y="1977390"/>
            <a:ext cx="1729502" cy="21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Potential Impact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182928" y="2323267"/>
            <a:ext cx="6000988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imbalance can lead to models that perform well on the majority class but poorly on the minority class, potentially missing crucial positive predictions.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928" y="2884408"/>
            <a:ext cx="6000988" cy="6000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450" y="669488"/>
            <a:ext cx="7663101" cy="1175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 Development: Logistic Regression Approach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740450" y="2162175"/>
            <a:ext cx="846296" cy="1859280"/>
          </a:xfrm>
          <a:prstGeom prst="roundRect">
            <a:avLst>
              <a:gd name="adj" fmla="val 360003"/>
            </a:avLst>
          </a:prstGeom>
          <a:solidFill>
            <a:srgbClr val="46464A"/>
          </a:solidFill>
          <a:ln/>
        </p:spPr>
      </p:sp>
      <p:sp>
        <p:nvSpPr>
          <p:cNvPr id="5" name="Text 2"/>
          <p:cNvSpPr/>
          <p:nvPr/>
        </p:nvSpPr>
        <p:spPr>
          <a:xfrm>
            <a:off x="1004887" y="2893457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798320" y="2373749"/>
            <a:ext cx="235077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Algorithm Choice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798320" y="2794397"/>
            <a:ext cx="6605230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We selected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Logistic Regression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for its interpretability and suitability for binary classification tasks common in medical contexts.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0450" y="4233029"/>
            <a:ext cx="846296" cy="1520785"/>
          </a:xfrm>
          <a:prstGeom prst="roundRect">
            <a:avLst>
              <a:gd name="adj" fmla="val 360003"/>
            </a:avLst>
          </a:prstGeom>
          <a:solidFill>
            <a:srgbClr val="46464A"/>
          </a:solidFill>
          <a:ln/>
        </p:spPr>
      </p:sp>
      <p:sp>
        <p:nvSpPr>
          <p:cNvPr id="9" name="Text 6"/>
          <p:cNvSpPr/>
          <p:nvPr/>
        </p:nvSpPr>
        <p:spPr>
          <a:xfrm>
            <a:off x="1004887" y="4795123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1798320" y="4444603"/>
            <a:ext cx="235077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Train-Test Split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798320" y="4865251"/>
            <a:ext cx="6605230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dataset was split 70-30, with stratification to maintain the original class distribution in both training and testing sets.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40450" y="5965388"/>
            <a:ext cx="846296" cy="1594723"/>
          </a:xfrm>
          <a:prstGeom prst="roundRect">
            <a:avLst>
              <a:gd name="adj" fmla="val 360003"/>
            </a:avLst>
          </a:prstGeom>
          <a:solidFill>
            <a:srgbClr val="4646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04887" y="6564392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1798320" y="6176963"/>
            <a:ext cx="245614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Sample Distribution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798320" y="6597610"/>
            <a:ext cx="6605230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Training Samples: 2,666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798320" y="7010043"/>
            <a:ext cx="6605230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Testing Samples: 1,143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2325" y="815102"/>
            <a:ext cx="7672149" cy="1168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 Performance: Initial Accuracy Assessment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222325" y="2298740"/>
            <a:ext cx="7672149" cy="1752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0"/>
              </a:lnSpc>
              <a:buNone/>
            </a:pPr>
            <a:r>
              <a:rPr lang="en-US" sz="11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85.39%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6222325" y="4366379"/>
            <a:ext cx="7672149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model achieved an overall accuracy of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85.39%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on the test set.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222325" y="4939189"/>
            <a:ext cx="7672149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suggests the model correctly predicts CHD risk in approximately 85% of cases.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22325" y="5848350"/>
            <a:ext cx="7672149" cy="1566148"/>
          </a:xfrm>
          <a:prstGeom prst="roundRect">
            <a:avLst>
              <a:gd name="adj" fmla="val 20139"/>
            </a:avLst>
          </a:prstGeom>
          <a:solidFill>
            <a:srgbClr val="4D40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90" y="6170890"/>
            <a:ext cx="262771" cy="2102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5625" y="6111121"/>
            <a:ext cx="6778585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While this accuracy appears promising, it's crucial to examine detailed metrics to understand performance across both classes, especially given the class imbalance.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38451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 Performance: Detailed Metrics &amp; Key Observation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803803"/>
            <a:ext cx="12902327" cy="2150031"/>
          </a:xfrm>
          <a:prstGeom prst="roundRect">
            <a:avLst>
              <a:gd name="adj" fmla="val 17224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9277" y="2819043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26331" y="2974777"/>
            <a:ext cx="27204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Class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348043" y="2974777"/>
            <a:ext cx="271664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Precision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565946" y="2974777"/>
            <a:ext cx="271664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Recall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3848" y="2974777"/>
            <a:ext cx="27204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F1-score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79277" y="3525560"/>
            <a:ext cx="12871847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26331" y="3681293"/>
            <a:ext cx="27204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0 (No Risk)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48043" y="3681293"/>
            <a:ext cx="271664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85%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65946" y="3681293"/>
            <a:ext cx="271664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100%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783848" y="3681293"/>
            <a:ext cx="27204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92%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79277" y="4232077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26331" y="4387810"/>
            <a:ext cx="27204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 (At Risk)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348043" y="4387810"/>
            <a:ext cx="271664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75%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565946" y="4387810"/>
            <a:ext cx="271664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783848" y="4387810"/>
            <a:ext cx="272045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7%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4037" y="5324118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Observation: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64037" y="6105882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model demonstrates excellent performance in identifying the 'No Risk' class (Class 0), achieving 100% recall. However, it struggles significantly with the 'At Risk' class (Class 1), showing a very low recall of only 4%. This indicates a major challenge in detecting patients who are genuinely at risk of CHD.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2025-12-09T20:02:23Z</dcterms:created>
  <dcterms:modified xsi:type="dcterms:W3CDTF">2025-12-09T20:02:23Z</dcterms:modified>
</cp:coreProperties>
</file>